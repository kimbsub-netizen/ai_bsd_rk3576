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9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47019"/>
            <a:ext cx="2789932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870894"/>
            <a:ext cx="6008719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75"/>
              </a:lnSpc>
            </a:pPr>
            <a:r>
              <a:rPr sz="3900" b="1" i="0" u="none">
                <a:solidFill>
                  <a:srgbClr val="FFFFFF"/>
                </a:solidFill>
                <a:latin typeface="Poppins"/>
              </a:rPr>
              <a:t>측면 사각지대 감지 시스템</a:t>
            </a:r>
            <a:r>
              <a:t>
</a:t>
            </a:r>
            <a:r>
              <a:rPr sz="3900" b="1" i="0" u="none">
                <a:solidFill>
                  <a:srgbClr val="FFFFFF"/>
                </a:solidFill>
                <a:latin typeface="Poppins"/>
              </a:rPr>
              <a:t> (Side BSD) 개발 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252019"/>
            <a:ext cx="4282975" cy="231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CBD5E1"/>
                </a:solidFill>
                <a:latin typeface="Noto Sans KR"/>
              </a:rPr>
              <a:t>AI 비전 기반 안전 장비 구축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107" y="2423219"/>
            <a:ext cx="111174" cy="1428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0D1499-B0F4-D8CD-D56A-1736BA2EE0DC}"/>
              </a:ext>
            </a:extLst>
          </p:cNvPr>
          <p:cNvSpPr txBox="1"/>
          <p:nvPr/>
        </p:nvSpPr>
        <p:spPr>
          <a:xfrm>
            <a:off x="7759952" y="6397690"/>
            <a:ext cx="4282975" cy="231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lang="ko-KR" altLang="en-US" sz="1275">
                <a:solidFill>
                  <a:srgbClr val="CBD5E1"/>
                </a:solidFill>
                <a:latin typeface="Noto Sans KR"/>
              </a:rPr>
              <a:t>작성자 </a:t>
            </a:r>
            <a:r>
              <a:rPr lang="en-US" altLang="ko-KR" sz="1275">
                <a:solidFill>
                  <a:srgbClr val="CBD5E1"/>
                </a:solidFill>
                <a:latin typeface="Noto Sans KR"/>
              </a:rPr>
              <a:t>: </a:t>
            </a:r>
            <a:r>
              <a:rPr lang="ko-KR" altLang="en-US" sz="1275">
                <a:solidFill>
                  <a:srgbClr val="CBD5E1"/>
                </a:solidFill>
                <a:latin typeface="Noto Sans KR"/>
              </a:rPr>
              <a:t>정우석</a:t>
            </a:r>
            <a:endParaRPr sz="1275" b="0" i="0" u="none">
              <a:solidFill>
                <a:srgbClr val="CBD5E1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744" y="3094732"/>
            <a:ext cx="7086510" cy="695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50" b="1" i="0" u="none">
                <a:solidFill>
                  <a:srgbClr val="F8FAFC"/>
                </a:solidFill>
                <a:latin typeface="Poppins"/>
              </a:rPr>
              <a:t>01. 프로젝트 개요 &amp; 핵심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25191" y="3942457"/>
            <a:ext cx="6741616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38BDF8"/>
                </a:solidFill>
                <a:latin typeface="Noto Sans KR"/>
              </a:rPr>
              <a:t>비전 AI 기술을 통한 독립형(Standalone) 측면 사각지대 충돌 예방 솔루션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90737"/>
            <a:ext cx="5334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200" y="2464593"/>
            <a:ext cx="50673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Noto Sans KR"/>
              </a:rPr>
              <a:t>개발 목적:</a:t>
            </a:r>
            <a:r>
              <a:rPr sz="1275" b="0" i="0" u="none">
                <a:solidFill>
                  <a:srgbClr val="CBD5E1"/>
                </a:solidFill>
                <a:latin typeface="Noto Sans KR"/>
              </a:rPr>
              <a:t> 대형 상용차(화물차, 버스, 지게차 등)의 측/후면 사각지대 충돌 사고 근본적 예방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134915"/>
            <a:ext cx="50673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Noto Sans KR"/>
              </a:rPr>
              <a:t>Standalone 독립형 장비:</a:t>
            </a:r>
            <a:r>
              <a:rPr sz="1275" b="0" i="0" u="none">
                <a:solidFill>
                  <a:srgbClr val="CBD5E1"/>
                </a:solidFill>
                <a:latin typeface="Noto Sans KR"/>
              </a:rPr>
              <a:t> 차량 CAN 통신(속도/조향) 연동 없이 순수 비전 카메라 영상만으로 동작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805237"/>
            <a:ext cx="50673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Noto Sans KR"/>
              </a:rPr>
              <a:t>Cost-Effective 구조:</a:t>
            </a:r>
            <a:r>
              <a:rPr sz="1275" b="0" i="0" u="none">
                <a:solidFill>
                  <a:srgbClr val="CBD5E1"/>
                </a:solidFill>
                <a:latin typeface="Noto Sans KR"/>
              </a:rPr>
              <a:t> 가성비 높은 Edge AI NPU 보드 기반으로 제작 비용 대폭 절감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475559"/>
            <a:ext cx="50673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Noto Sans KR"/>
              </a:rPr>
              <a:t>절대 공간 방어:</a:t>
            </a:r>
            <a:r>
              <a:rPr sz="1275" b="0" i="0" u="none">
                <a:solidFill>
                  <a:srgbClr val="CBD5E1"/>
                </a:solidFill>
                <a:latin typeface="Noto Sans KR"/>
              </a:rPr>
              <a:t> 위험 영역(Polygon ROI) 내 객체의 상대 속도 및 거리를 추정하여 실시간 경고 발송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100262"/>
            <a:ext cx="5314950" cy="3409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프로젝트 개요 및 배경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9429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483643"/>
            <a:ext cx="103733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53965"/>
            <a:ext cx="103733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24287"/>
            <a:ext cx="103733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94609"/>
            <a:ext cx="103733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40806"/>
            <a:ext cx="2590800" cy="23288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900" y="2640806"/>
            <a:ext cx="2590800" cy="23288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2640806"/>
            <a:ext cx="2590800" cy="23288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0" y="2640806"/>
            <a:ext cx="2590800" cy="232886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2917031"/>
            <a:ext cx="609600" cy="609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625" y="3698081"/>
            <a:ext cx="193727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1F5F9"/>
                </a:solidFill>
                <a:latin typeface="Poppins"/>
              </a:rPr>
              <a:t>단일 NPU 다중 카메라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050506"/>
            <a:ext cx="21145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Noto Sans KR"/>
              </a:rPr>
              <a:t>1대의 엣지 NPU 보드에서 좌/우측 2채널 이상 영상을 병렬 처리하여 시스템 단가 최소화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9025" y="2917031"/>
            <a:ext cx="609600" cy="60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29025" y="3698081"/>
            <a:ext cx="179584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1F5F9"/>
                </a:solidFill>
                <a:latin typeface="Poppins"/>
              </a:rPr>
              <a:t>커스텀 Polygon ROI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9025" y="4050506"/>
            <a:ext cx="21145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Noto Sans KR"/>
              </a:rPr>
              <a:t>차체 반사광 및 인접 차선 너머를 제어하는 다각형 DANGER/WARNING 구역 설정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2917031"/>
            <a:ext cx="609600" cy="609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8425" y="3698081"/>
            <a:ext cx="163817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1F5F9"/>
                </a:solidFill>
                <a:latin typeface="Poppins"/>
              </a:rPr>
              <a:t>O2O 캘리브레이션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4050506"/>
            <a:ext cx="21145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Noto Sans KR"/>
              </a:rPr>
              <a:t>비선형 곡선 피팅 기반 2D 픽셀 좌표의 3D 실거리(Meter) 정밀 변환 및 자동화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7825" y="2917031"/>
            <a:ext cx="609600" cy="609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67825" y="3698081"/>
            <a:ext cx="186742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1F5F9"/>
                </a:solidFill>
                <a:latin typeface="Poppins"/>
              </a:rPr>
              <a:t>스마트 오작동 필터링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7825" y="4050506"/>
            <a:ext cx="21145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Noto Sans KR"/>
              </a:rPr>
              <a:t>ByteTrack 및 VelocityTracker 결합으로 마주 오는 차 및 정지 객체 알람 억제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926" y="3050381"/>
            <a:ext cx="266848" cy="3429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0326" y="3050381"/>
            <a:ext cx="266848" cy="3429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9726" y="3050381"/>
            <a:ext cx="266848" cy="3429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39126" y="3050381"/>
            <a:ext cx="266848" cy="3429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4대 핵심 개발 목표 (Key Objectives)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" y="9429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33650"/>
            <a:ext cx="2590800" cy="2543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900" y="2533650"/>
            <a:ext cx="2590800" cy="2543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2533650"/>
            <a:ext cx="2590800" cy="25431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0" y="2533650"/>
            <a:ext cx="2590800" cy="25431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2809875"/>
            <a:ext cx="609600" cy="609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625" y="3590925"/>
            <a:ext cx="188789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1F5F9"/>
                </a:solidFill>
                <a:latin typeface="Poppins"/>
              </a:rPr>
              <a:t>객체 인식 (Detection)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081368"/>
            <a:ext cx="21145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94A3B8"/>
                </a:solidFill>
                <a:latin typeface="Noto Sans KR"/>
              </a:rPr>
              <a:t>YOLOv8</a:t>
            </a:r>
            <a:r>
              <a:t>
</a:t>
            </a:r>
            <a:r>
              <a:rPr sz="1125" b="0" i="0" u="none">
                <a:solidFill>
                  <a:srgbClr val="94A3B8"/>
                </a:solidFill>
                <a:latin typeface="Noto Sans KR"/>
              </a:rPr>
              <a:t> 차량, 사람, 오토바이 등 타임-크리티컬 객체 중심 초고속 경량 인식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9025" y="2809875"/>
            <a:ext cx="609600" cy="60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29025" y="3590925"/>
            <a:ext cx="180319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1F5F9"/>
                </a:solidFill>
                <a:latin typeface="Poppins"/>
              </a:rPr>
              <a:t>객체 추적 (Tracking)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9025" y="4077548"/>
            <a:ext cx="21145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94A3B8"/>
                </a:solidFill>
                <a:latin typeface="Noto Sans KR"/>
              </a:rPr>
              <a:t>ByteTrack</a:t>
            </a:r>
            <a:r>
              <a:t>
</a:t>
            </a:r>
            <a:r>
              <a:rPr sz="1125" b="0" i="0" u="none">
                <a:solidFill>
                  <a:srgbClr val="94A3B8"/>
                </a:solidFill>
                <a:latin typeface="Noto Sans KR"/>
              </a:rPr>
              <a:t> 객체 가려짐(Occlusion) 및 부분 인식 상황에서도 ID 연속성 보장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2809875"/>
            <a:ext cx="609600" cy="609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8425" y="3590925"/>
            <a:ext cx="158504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1F5F9"/>
                </a:solidFill>
                <a:latin typeface="Poppins"/>
              </a:rPr>
              <a:t>영상 처리 (Vision)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4077548"/>
            <a:ext cx="21145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94A3B8"/>
                </a:solidFill>
                <a:latin typeface="Noto Sans KR"/>
              </a:rPr>
              <a:t>OpenCV &amp; Python</a:t>
            </a:r>
            <a:r>
              <a:t>
</a:t>
            </a:r>
            <a:r>
              <a:rPr sz="1125" b="0" i="0" u="none">
                <a:solidFill>
                  <a:srgbClr val="94A3B8"/>
                </a:solidFill>
                <a:latin typeface="Noto Sans KR"/>
              </a:rPr>
              <a:t> 디워핑(Dewarping), ROI 렌더링, 멀티스레드 스트림 파이프라인 구축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7825" y="2809875"/>
            <a:ext cx="609600" cy="609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67825" y="3590925"/>
            <a:ext cx="213557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1F5F9"/>
                </a:solidFill>
                <a:latin typeface="Poppins"/>
              </a:rPr>
              <a:t>NPU 배포 (Deployment)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7825" y="4081368"/>
            <a:ext cx="21145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94A3B8"/>
                </a:solidFill>
                <a:latin typeface="Noto Sans KR"/>
              </a:rPr>
              <a:t>RKNN Quantization</a:t>
            </a:r>
            <a:r>
              <a:t>
</a:t>
            </a:r>
            <a:r>
              <a:rPr sz="1125" b="0" i="0" u="none">
                <a:solidFill>
                  <a:srgbClr val="94A3B8"/>
                </a:solidFill>
                <a:latin typeface="Noto Sans KR"/>
              </a:rPr>
              <a:t> RK3588 타겟 모델 양자화 변환 및 Headless 데몬 배포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926" y="2943225"/>
            <a:ext cx="266848" cy="3429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0326" y="2943225"/>
            <a:ext cx="266848" cy="3429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9726" y="2943225"/>
            <a:ext cx="266848" cy="3429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39126" y="2943225"/>
            <a:ext cx="266848" cy="3429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기술 스택 및 아키텍처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" y="9429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13018" y="3094732"/>
            <a:ext cx="7765814" cy="695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50" b="1" i="0" u="none">
                <a:solidFill>
                  <a:srgbClr val="F8FAFC"/>
                </a:solidFill>
                <a:latin typeface="Poppins"/>
              </a:rPr>
              <a:t>02. 핵심 기술 알고리즘 및 툴체인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0671" y="3942457"/>
            <a:ext cx="5250656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38BDF8"/>
                </a:solidFill>
                <a:latin typeface="Noto Sans KR"/>
              </a:rPr>
              <a:t>정밀 공간 방어, 3D 거리 변환 및 지능형 필터링 알고리즘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정밀 공간 방어 및 툴체인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71500" y="103822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2702421"/>
            <a:ext cx="555069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Poppins"/>
              </a:rPr>
              <a:t>오프라인 캘리브레이션 툴체인 (Phase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3102471"/>
            <a:ext cx="505777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CBD5E1"/>
                </a:solidFill>
                <a:latin typeface="Noto Sans KR"/>
              </a:rPr>
              <a:t>roi_tuner_v2.py:</a:t>
            </a:r>
            <a:r>
              <a:rPr sz="1200" b="0" i="0" u="none">
                <a:solidFill>
                  <a:srgbClr val="CBD5E1"/>
                </a:solidFill>
                <a:latin typeface="Noto Sans KR"/>
              </a:rPr>
              <a:t> 카메라 장착 화각별 DANGER / WARNING 구역 정밀 좌표 추출 GUI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704332"/>
            <a:ext cx="505777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CBD5E1"/>
                </a:solidFill>
                <a:latin typeface="Noto Sans KR"/>
              </a:rPr>
              <a:t>distance_calibrator_tool.py:</a:t>
            </a:r>
            <a:r>
              <a:rPr sz="1200" b="0" i="0" u="none">
                <a:solidFill>
                  <a:srgbClr val="CBD5E1"/>
                </a:solidFill>
                <a:latin typeface="Noto Sans KR"/>
              </a:rPr>
              <a:t> 1m, 2m, 4m, 6m, 10m 실측 데이터 기반 2D-3D 비선형 보간 방정식 산출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4306192"/>
            <a:ext cx="505777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CBD5E1"/>
                </a:solidFill>
                <a:latin typeface="Noto Sans KR"/>
              </a:rPr>
              <a:t>multi_camera_recorder.py:</a:t>
            </a:r>
            <a:r>
              <a:rPr sz="1200" b="0" i="0" u="none">
                <a:solidFill>
                  <a:srgbClr val="CBD5E1"/>
                </a:solidFill>
                <a:latin typeface="Noto Sans KR"/>
              </a:rPr>
              <a:t> 멀티스레딩 기반 실차 원본(Raw) AHD 영상 수집 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083421"/>
            <a:ext cx="666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8BDF8"/>
                </a:solidFill>
                <a:latin typeface="Noto Sans K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685282"/>
            <a:ext cx="666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8BDF8"/>
                </a:solidFill>
                <a:latin typeface="Noto Sans K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287142"/>
            <a:ext cx="666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8BDF8"/>
                </a:solidFill>
                <a:latin typeface="Noto Sans KR"/>
              </a:rPr>
              <a:t>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57760"/>
            <a:ext cx="5334000" cy="249495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557760"/>
            <a:ext cx="5334000" cy="24949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2872085"/>
            <a:ext cx="4940617" cy="285750"/>
          </a:xfrm>
          <a:prstGeom prst="rect">
            <a:avLst/>
          </a:prstGeom>
          <a:noFill/>
        </p:spPr>
        <p:txBody>
          <a:bodyPr wrap="square" lIns="158948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Poppins"/>
              </a:rPr>
              <a:t>상대 속도 추정 (VelocityTracker)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272135"/>
            <a:ext cx="470535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CBD5E1"/>
                </a:solidFill>
                <a:latin typeface="Noto Sans KR"/>
              </a:rPr>
              <a:t>ByteTrack으로 부여된 객체 ID의 프레임 간 3D 실거리 이동량을 시간으로 나누어 </a:t>
            </a:r>
            <a:r>
              <a:rPr sz="1275" b="1" i="0" u="none">
                <a:solidFill>
                  <a:srgbClr val="CBD5E1"/>
                </a:solidFill>
                <a:latin typeface="Noto Sans KR"/>
              </a:rPr>
              <a:t>상대 속도(m/s)</a:t>
            </a:r>
            <a:r>
              <a:rPr sz="1275" b="0" i="0" u="none">
                <a:solidFill>
                  <a:srgbClr val="CBD5E1"/>
                </a:solidFill>
                <a:latin typeface="Noto Sans KR"/>
              </a:rPr>
              <a:t>를 정밀 도출합니다.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825" y="2872085"/>
            <a:ext cx="4940617" cy="285750"/>
          </a:xfrm>
          <a:prstGeom prst="rect">
            <a:avLst/>
          </a:prstGeom>
          <a:noFill/>
        </p:spPr>
        <p:txBody>
          <a:bodyPr wrap="square" lIns="158948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Poppins"/>
              </a:rPr>
              <a:t>Mute 기능 (불필요 알람 억제)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272135"/>
            <a:ext cx="470535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CBD5E1"/>
                </a:solidFill>
                <a:latin typeface="Noto Sans KR"/>
              </a:rPr>
              <a:t>반대 차선에서 마주 오는 차량 (예: </a:t>
            </a:r>
            <a:r>
              <a:rPr sz="1275" b="1" i="0" u="none">
                <a:solidFill>
                  <a:srgbClr val="F87171"/>
                </a:solidFill>
                <a:latin typeface="Noto Sans KR"/>
              </a:rPr>
              <a:t>-5.0 m/s 이하</a:t>
            </a:r>
            <a:r>
              <a:rPr sz="1275" b="0" i="0" u="none">
                <a:solidFill>
                  <a:srgbClr val="CBD5E1"/>
                </a:solidFill>
                <a:latin typeface="Noto Sans KR"/>
              </a:rPr>
              <a:t>) 및 서행 시 길가에 정지된 차량을 감지하여 불필요한 알람 발생을 자동 차단합니다.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4220467"/>
            <a:ext cx="470535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CBD5E1"/>
                </a:solidFill>
                <a:latin typeface="Noto Sans KR"/>
              </a:rPr>
              <a:t>차체에 맺히는 반사광이나 인접 차선 펜스 너머의 객체를 ROI 다각형 판정으로 사전에 배제합니다.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2910185"/>
            <a:ext cx="158948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3991123"/>
            <a:ext cx="949225" cy="202257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2910185"/>
            <a:ext cx="158948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스마트 오작동 필터링 알고리즘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9429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08039" y="3094732"/>
            <a:ext cx="7375921" cy="695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50" b="1" i="0" u="none">
                <a:solidFill>
                  <a:srgbClr val="F8FAFC"/>
                </a:solidFill>
                <a:latin typeface="Poppins"/>
              </a:rPr>
              <a:t>03. 개발 일정 및 품질 검증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4939" y="3942457"/>
            <a:ext cx="458212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38BDF8"/>
                </a:solidFill>
                <a:latin typeface="Noto Sans KR"/>
              </a:rPr>
              <a:t>Phase 1~5 마일스톤 및 실차 환경 QA 프레임워크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81437"/>
            <a:ext cx="11049000" cy="38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86237"/>
            <a:ext cx="1988790" cy="142666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6515" y="2374701"/>
            <a:ext cx="1988790" cy="124003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1530" y="4186237"/>
            <a:ext cx="1988790" cy="124003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545" y="2374701"/>
            <a:ext cx="1988790" cy="124003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1560" y="4186237"/>
            <a:ext cx="1988790" cy="122098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5346" y="4348162"/>
            <a:ext cx="921097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1801" y="4605337"/>
            <a:ext cx="174818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8BDF8"/>
                </a:solidFill>
                <a:latin typeface="Poppins"/>
              </a:rPr>
              <a:t>알고리즘 PoC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" y="4891087"/>
            <a:ext cx="166494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Noto Sans KR"/>
              </a:rPr>
              <a:t>YOLOv8 모델 검증 및 Polygon ROI 판정 로직 구축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70361" y="2536626"/>
            <a:ext cx="921097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56816" y="2793801"/>
            <a:ext cx="174818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8BDF8"/>
                </a:solidFill>
                <a:latin typeface="Poppins"/>
              </a:rPr>
              <a:t>툴체인 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8440" y="3079551"/>
            <a:ext cx="166494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Noto Sans KR"/>
              </a:rPr>
              <a:t>ROI Tuner &amp; 거리 캘리브레이션 GUI 툴 개발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35376" y="4348162"/>
            <a:ext cx="921097" cy="2000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21831" y="4605337"/>
            <a:ext cx="174818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8BDF8"/>
                </a:solidFill>
                <a:latin typeface="Poppins"/>
              </a:rPr>
              <a:t>스마트 필터링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3455" y="4891087"/>
            <a:ext cx="166494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Noto Sans KR"/>
              </a:rPr>
              <a:t>ByteTrack + VelocityTracker 기반 Mute 기능 구현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00392" y="2536626"/>
            <a:ext cx="921097" cy="2000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86847" y="2793801"/>
            <a:ext cx="174818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8BDF8"/>
                </a:solidFill>
                <a:latin typeface="Poppins"/>
              </a:rPr>
              <a:t>실차 테스트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8470" y="3079551"/>
            <a:ext cx="166494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Noto Sans KR"/>
              </a:rPr>
              <a:t>차종별 Raw 영상 수집 및 임계값 Golden Ratio 튜닝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55882" y="4357687"/>
            <a:ext cx="940147" cy="1714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51862" y="4586287"/>
            <a:ext cx="174818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8BDF8"/>
                </a:solidFill>
                <a:latin typeface="Poppins"/>
              </a:rPr>
              <a:t>Edge NPU 포팅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3485" y="4872037"/>
            <a:ext cx="166494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Noto Sans KR"/>
              </a:rPr>
              <a:t>RKNN 양자화, Headless 데몬 연동 및 양산 검수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단계별 개발 일정 (WBS)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9429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470645" y="38052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735660" y="38052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000675" y="38052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265690" y="38052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30706" y="38052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294632"/>
          <a:ext cx="11029948" cy="3021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7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3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9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421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8BDF8"/>
                          </a:solidFill>
                          <a:latin typeface="Noto Sans KR"/>
                        </a:rPr>
                        <a:t>검증 항목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8BDF8"/>
                          </a:solidFill>
                          <a:latin typeface="Noto Sans KR"/>
                        </a:rPr>
                        <a:t>시험 시나리오 및 조건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8BDF8"/>
                          </a:solidFill>
                          <a:latin typeface="Noto Sans KR"/>
                        </a:rPr>
                        <a:t>목표 기준 (Pass Criteria)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21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Noto Sans KR"/>
                        </a:rPr>
                        <a:t>False Positive (오탐)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Noto Sans KR"/>
                        </a:rPr>
                        <a:t>인접 차선 차, 차체 반사광, 차선 분리대 등 오알람 요인 평가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Noto Sans KR"/>
                        </a:rPr>
                        <a:t>비정상 경보율 1% 이하 달성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21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Noto Sans KR"/>
                        </a:rPr>
                        <a:t>부분 검출 한계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Noto Sans KR"/>
                        </a:rPr>
                        <a:t>0~1m 초근접 환경에서 잘린 형태(Crop) 객체 추적 테스트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Noto Sans KR"/>
                        </a:rPr>
                        <a:t>ByteTrack ID 유지율 95% 이상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21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Noto Sans KR"/>
                        </a:rPr>
                        <a:t>프레임 방어 (FPS)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Noto Sans KR"/>
                        </a:rPr>
                        <a:t>NPU 1대로 좌/우 2채널 동시 인퍼런스 시 부하 측정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Noto Sans KR"/>
                        </a:rPr>
                        <a:t>최소 15~20 FPS 연속 유지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214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Noto Sans KR"/>
                        </a:rPr>
                        <a:t>장기 구동 (Endurance)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Noto Sans KR"/>
                        </a:rPr>
                        <a:t>Headless 데몬 프로세스로 연속 실행 및 메모리 모니터링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Noto Sans KR"/>
                        </a:rPr>
                        <a:t>72시간 연속 구동 시 누수 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81025" y="2921347"/>
            <a:ext cx="27574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338512" y="2921347"/>
            <a:ext cx="496341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301930" y="2921347"/>
            <a:ext cx="330904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025" y="3517552"/>
            <a:ext cx="27574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338512" y="3517552"/>
            <a:ext cx="496341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301930" y="3517552"/>
            <a:ext cx="330904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4113758"/>
            <a:ext cx="27574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8512" y="4113758"/>
            <a:ext cx="496341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301930" y="4113758"/>
            <a:ext cx="330904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4709963"/>
            <a:ext cx="27574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8512" y="4709963"/>
            <a:ext cx="496341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01930" y="4709963"/>
            <a:ext cx="330904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품질 검증 (QA) 방안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9429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6228" y="2049660"/>
            <a:ext cx="4439394" cy="552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476250"/>
            <a:ext cx="116014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FFFFF"/>
                </a:solidFill>
                <a:latin typeface="Poppins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333500"/>
            <a:ext cx="11049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38BDF8"/>
                </a:solidFill>
                <a:latin typeface="Noto Sans KR"/>
              </a:rPr>
              <a:t>딥러닝 비전 기반 측면 사각지대 감지 시스템 (Side BSD)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0970" y="2240160"/>
            <a:ext cx="133498" cy="171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658</Words>
  <Application>Microsoft Office PowerPoint</Application>
  <PresentationFormat>와이드스크린</PresentationFormat>
  <Paragraphs>75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Noto Sans KR</vt:lpstr>
      <vt:lpstr>Arial</vt:lpstr>
      <vt:lpstr>Calibri</vt:lpstr>
      <vt:lpstr>Poppins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JWS</cp:lastModifiedBy>
  <cp:revision>5</cp:revision>
  <dcterms:created xsi:type="dcterms:W3CDTF">2013-01-27T09:14:16Z</dcterms:created>
  <dcterms:modified xsi:type="dcterms:W3CDTF">2026-07-31T01:38:47Z</dcterms:modified>
  <cp:category/>
</cp:coreProperties>
</file>